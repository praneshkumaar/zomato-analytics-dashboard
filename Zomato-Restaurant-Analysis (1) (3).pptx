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2" r:id="rId18"/>
    <p:sldId id="261" r:id="rId19"/>
    <p:sldId id="265" r:id="rId20"/>
    <p:sldId id="275" r:id="rId21"/>
  </p:sldIdLst>
  <p:sldSz cx="14630400" cy="8229600"/>
  <p:notesSz cx="8229600" cy="14630400"/>
  <p:embeddedFontLst>
    <p:embeddedFont>
      <p:font typeface="Noto Sans TC" panose="020B0604020202020204" charset="-128"/>
      <p:regular r:id="rId23"/>
    </p:embeddedFont>
    <p:embeddedFont>
      <p:font typeface="Sora Medium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 GOPI" userId="affcee19a105cc5e" providerId="LiveId" clId="{F5101EF5-2A4F-411B-AC6E-283D8145F11D}"/>
    <pc:docChg chg="modSld">
      <pc:chgData name="D GOPI" userId="affcee19a105cc5e" providerId="LiveId" clId="{F5101EF5-2A4F-411B-AC6E-283D8145F11D}" dt="2025-12-19T07:58:26.416" v="157" actId="1036"/>
      <pc:docMkLst>
        <pc:docMk/>
      </pc:docMkLst>
      <pc:sldChg chg="modSp mod">
        <pc:chgData name="D GOPI" userId="affcee19a105cc5e" providerId="LiveId" clId="{F5101EF5-2A4F-411B-AC6E-283D8145F11D}" dt="2025-12-19T07:57:07.202" v="21" actId="113"/>
        <pc:sldMkLst>
          <pc:docMk/>
          <pc:sldMk cId="0" sldId="256"/>
        </pc:sldMkLst>
        <pc:spChg chg="mod">
          <ac:chgData name="D GOPI" userId="affcee19a105cc5e" providerId="LiveId" clId="{F5101EF5-2A4F-411B-AC6E-283D8145F11D}" dt="2025-12-19T07:57:07.202" v="21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D GOPI" userId="affcee19a105cc5e" providerId="LiveId" clId="{F5101EF5-2A4F-411B-AC6E-283D8145F11D}" dt="2025-12-19T07:56:57.945" v="20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D GOPI" userId="affcee19a105cc5e" providerId="LiveId" clId="{F5101EF5-2A4F-411B-AC6E-283D8145F11D}" dt="2025-12-19T07:58:26.416" v="157" actId="1036"/>
        <pc:sldMkLst>
          <pc:docMk/>
          <pc:sldMk cId="0" sldId="257"/>
        </pc:sldMkLst>
        <pc:spChg chg="mod">
          <ac:chgData name="D GOPI" userId="affcee19a105cc5e" providerId="LiveId" clId="{F5101EF5-2A4F-411B-AC6E-283D8145F11D}" dt="2025-12-19T07:58:26.416" v="157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D GOPI" userId="affcee19a105cc5e" providerId="LiveId" clId="{F5101EF5-2A4F-411B-AC6E-283D8145F11D}" dt="2025-12-19T07:58:19.338" v="144" actId="10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D GOPI" userId="affcee19a105cc5e" providerId="LiveId" clId="{F5101EF5-2A4F-411B-AC6E-283D8145F11D}" dt="2025-12-19T07:58:13.653" v="127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D GOPI" userId="affcee19a105cc5e" providerId="LiveId" clId="{F5101EF5-2A4F-411B-AC6E-283D8145F11D}" dt="2025-12-19T07:58:08.581" v="105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D GOPI" userId="affcee19a105cc5e" providerId="LiveId" clId="{F5101EF5-2A4F-411B-AC6E-283D8145F11D}" dt="2025-12-19T07:57:59.817" v="62" actId="1035"/>
          <ac:spMkLst>
            <pc:docMk/>
            <pc:sldMk cId="0" sldId="257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07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569FB-B34B-0BE9-EA50-891D816B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BEE6C-2E8B-E5BA-4113-F7155BD74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D25C8-CCF7-76C2-A610-299077340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8C22F-F464-4740-E385-B3DBBC3C8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12C77-D99C-0973-6E42-F41157CC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D35BB-5D75-01A2-4D3A-FC7B42A9C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39241-7854-536E-8446-80DD17A80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AC663-E83C-0B5A-3BFF-775B7B5C8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C4D7-C0A3-A776-0D18-E24BD27C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7D421-F19F-156C-8053-ED8B26FDE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1A537-35E0-86EB-8DE5-4B75B56EA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4C255-9DA4-B121-457E-F2BC0133E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85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0CF4-0DE0-06F2-8027-E521F36D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E4CBB-F91E-EE7D-89C1-2FB2BE808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3C5F4-0DAE-AE4E-A8A8-D77C9E93A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00655-83BF-2049-19CA-11495FC17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46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D000-FE14-FFAD-17BC-9C4C76EF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DA6D7-43E4-755A-56A4-6B3D3901E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153AF-83CA-8162-0DD0-7F7C52B1D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09C48-D8AA-AA48-7D26-CA76416C6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44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DEF0-2BD4-8374-68C6-43DD46D9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CBEA4-C1F2-5813-F59E-73B36C191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047E9-C2D7-4C1E-ACE1-FFD108270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713A2-B5EF-9F2C-7FA3-026440AA3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55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F56F-52BB-BD06-81EA-58107CB5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9F91C-2A57-C933-0B19-8B315FEE4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AAE4B-E75D-6C65-D35A-94F09A7C8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A0668-8861-F2DA-7239-96E8042DB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86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1CE0-CC83-DA4A-3880-2156D51A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05474-CBFA-8018-D180-4AB401F2A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7A26B-BFB3-5009-C7CD-F5FFF8A07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73761-AF4B-8770-054A-0EBDD7F90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7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CD853-C012-4A6E-FBD9-F0E3BA1C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AC27A-425C-4627-664A-0ACD701ED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B27C9-9165-6B07-7E6A-18B72B6B9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C3EC0-6A4A-CA04-D07A-D29BE5FC9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83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93395-F107-F504-6F0E-773CB2DA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D6975-6508-4568-EDF5-6BC73D927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02752-E5BE-C2C3-D92D-E9C1E0D57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8EA56-821E-B14D-474D-F644B6011A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13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jpeg"/><Relationship Id="rId4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712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Zomato Restaurant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289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Unlocking Insights for Enhanced Dining Experiences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320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Team Members: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6265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Vijay Manglani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06872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Rajeshwari 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5109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Shivam Shekhar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9531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Parimala 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3160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Digavinti Gopi</a:t>
            </a:r>
          </a:p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S.Nancy</a:t>
            </a:r>
          </a:p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</a:rPr>
              <a:t>Dharmarajan P</a:t>
            </a:r>
            <a:endParaRPr lang="en-US" sz="17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92A89747-79A8-4CF8-BFAF-A87E64D77174}"/>
              </a:ext>
            </a:extLst>
          </p:cNvPr>
          <p:cNvSpPr/>
          <p:nvPr/>
        </p:nvSpPr>
        <p:spPr>
          <a:xfrm>
            <a:off x="6280189" y="73160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  <a:buSzPct val="100000"/>
            </a:pP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B5A3F7-FC77-C968-4C2B-543BD4212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78916"/>
            <a:ext cx="2857500" cy="5506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90" y="444103"/>
            <a:ext cx="10005893" cy="50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Overview: Unveiling Zomato's Landscape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5190" y="1271588"/>
            <a:ext cx="13500021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This comprehensive project delves into Zomato's vast restaurant data to illuminate customer preferences, gauge restaurant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performance, and discern critical market trends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90" y="1828419"/>
            <a:ext cx="6553081" cy="62804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19749" y="2258297"/>
            <a:ext cx="6553081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analysis spans crucial metrics, including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: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519749" y="3159307"/>
            <a:ext cx="6553081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Ratings &amp; Pricing:</a:t>
            </a: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Understanding value and satisfaction.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19749" y="4143401"/>
            <a:ext cx="6553081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Cuisines:</a:t>
            </a: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Exploring diverse culinary landscapes.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19749" y="5010483"/>
            <a:ext cx="6553081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Online Delivery &amp; Table Booking:</a:t>
            </a: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Assessing service impact.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19749" y="5764388"/>
            <a:ext cx="6553081" cy="891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Interactive dashboards translate complex data into </a:t>
            </a:r>
            <a:r>
              <a:rPr lang="en-US" sz="160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actionable insights</a:t>
            </a: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empowering data-driven decisions for Zomato's strategic growth.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BFD2A6-5B6B-7CA3-C435-E512F7D05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0153" y="7312313"/>
            <a:ext cx="2857500" cy="891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599"/>
            <a:ext cx="833235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Strategic Objectives of Zomato Analytics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0489" y="1606272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analytical framework is designed to drive targeted improvements and strategic growth for Zomato and its partners.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038945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2267" y="236636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587579" y="2197656"/>
            <a:ext cx="292072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Performance Across Regions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87579" y="2540913"/>
            <a:ext cx="122490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Analyze restaurant performance and popularity across diverse countries and cities to identify growth markets.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3790" y="3150275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2267" y="347769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587579" y="3308985"/>
            <a:ext cx="323445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Customer Preference Deep Dive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7579" y="3652242"/>
            <a:ext cx="122490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Understand dining behavior and preferences through detailed analysis of ratings, votes, and popular cuisines.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3790" y="4261604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2267" y="4589026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587579" y="4420314"/>
            <a:ext cx="29398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Tracking Growth Trajectories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87579" y="4763572"/>
            <a:ext cx="122490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Monitor restaurant growth trends across yearly, monthly, and quarterly intervals to forecast market expansion.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790" y="5372933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2267" y="570035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587579" y="5531644"/>
            <a:ext cx="260246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Impact of Digital Services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87579" y="5874901"/>
            <a:ext cx="122490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Evaluate how online delivery and table booking features influence customer ratings and restaurant success.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3790" y="6484263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2267" y="681168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587579" y="6642973"/>
            <a:ext cx="292346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Informed Business Decisions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87579" y="6986230"/>
            <a:ext cx="122490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Provide robust, data-backed insights to support Zomato's strategic planning and operational enhancements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A8E275-3425-BDE2-CAC0-356AB31F1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0" y="7312313"/>
            <a:ext cx="2857500" cy="891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71682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Zomato's Current Landscape: Key Performance Indicators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2565797"/>
            <a:ext cx="75564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snapshot of Zomato's extensive network and customer satisfaction metrics.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3790" y="3187303"/>
            <a:ext cx="2358152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9,551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793790" y="4064318"/>
            <a:ext cx="235815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Restaurants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93790" y="4481155"/>
            <a:ext cx="235815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vast network of dining options on the platform.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392924" y="3187303"/>
            <a:ext cx="2358152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$10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3392924" y="4064318"/>
            <a:ext cx="235815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Avg. Cost for Two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3392924" y="4481155"/>
            <a:ext cx="2358152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Affordable dining options are prevalent across the platform.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92058" y="3187303"/>
            <a:ext cx="2358152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2.9/5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92058" y="4064318"/>
            <a:ext cx="2358152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Avg. Restaurant Rating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992058" y="4782383"/>
            <a:ext cx="2358152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Indicates significant room for service quality and customer satisfaction improvements.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93790" y="6232684"/>
            <a:ext cx="7556421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Zomato boasts a substantial restaurant base with budget-friendly options, however, the overall average rating highlights potential areas for enhancing service quality and customer dining experiences.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250" y="525899"/>
            <a:ext cx="8548330" cy="388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Online Delivery &amp; Table Booking: Unexplored Potential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9250" y="1162883"/>
            <a:ext cx="13291899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Analysis reveals a significant untapped market for digital service adoption among Zomato's restaurant partners.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51942" y="2449235"/>
            <a:ext cx="1528882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12%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183" y="1672352"/>
            <a:ext cx="1864519" cy="18645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39559" y="3692247"/>
            <a:ext cx="1553766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Table Booking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9250" y="4010739"/>
            <a:ext cx="6494383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Restaurants offering table booking.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51942" y="5266134"/>
            <a:ext cx="1528882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88%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183" y="4489252"/>
            <a:ext cx="1864519" cy="18645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39559" y="6509147"/>
            <a:ext cx="1553766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Table Booking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69250" y="6827639"/>
            <a:ext cx="6494383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Restaurants not offering table booking.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957078" y="2449235"/>
            <a:ext cx="1528882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26%</a:t>
            </a:r>
            <a:endParaRPr lang="en-US" sz="2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9319" y="1672352"/>
            <a:ext cx="1864519" cy="18645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44695" y="3692247"/>
            <a:ext cx="1553766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Online Delivery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474387" y="4010739"/>
            <a:ext cx="6494383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Restaurants offering online delivery.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957078" y="5266134"/>
            <a:ext cx="1528882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74%</a:t>
            </a:r>
            <a:endParaRPr lang="en-US" sz="2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9319" y="4489252"/>
            <a:ext cx="1864519" cy="18645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44695" y="6509147"/>
            <a:ext cx="1553766" cy="194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Online Delivery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474387" y="6827639"/>
            <a:ext cx="6494383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Restaurants not offering online delivery.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69250" y="7306032"/>
            <a:ext cx="13291899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data indicates that a large majority of restaurants on the platform currently do not provide table booking or online delivery services. This presents </a:t>
            </a:r>
            <a:r>
              <a:rPr lang="en-US" sz="160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strong opportunity for Zomato to expand its platform offerings</a:t>
            </a: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and onboard more partners, driving increased customer engagement and convenience.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CE5A41-889D-1A18-AE65-F071475E3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2900" y="7703701"/>
            <a:ext cx="2857500" cy="500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3535"/>
            <a:ext cx="130428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Cuisine Landscape: Diverse Tastes and Popular Choices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44125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Exploring the culinary preferences of Zomato users reveals a rich tapestry of popular and emerging cuisines.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28474"/>
            <a:ext cx="2905720" cy="1795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039678"/>
            <a:ext cx="3058716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North Indian Dominance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5842040"/>
            <a:ext cx="3058716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North Indian cuisine holds the largest share of restaurants, indicating its widespread popularity.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825" y="3028474"/>
            <a:ext cx="2905720" cy="17958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1825" y="5039678"/>
            <a:ext cx="3058716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Fast Food &amp; Chinese Popularity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4121825" y="5842040"/>
            <a:ext cx="3058716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Fast Food and Chinese cuisines are consistently among the most highly patronized options on the platform.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860" y="3028474"/>
            <a:ext cx="2905720" cy="17958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49860" y="5039678"/>
            <a:ext cx="3058716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Bakery &amp; Dessert Performance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449860" y="5842040"/>
            <a:ext cx="3058716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These categories maintain moderate but steady ratings, suggesting a dedicated customer base.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7895" y="3028474"/>
            <a:ext cx="2905720" cy="1795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77895" y="5039678"/>
            <a:ext cx="304073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High Cuisine Diversity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0777895" y="5505450"/>
            <a:ext cx="3058716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platform boasts a broad spectrum of cuisines, catering to a wide array of customer preferences and encouraging culinary exploration.</a:t>
            </a:r>
            <a:endParaRPr lang="en-US" sz="16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72A8D2E-F882-C8D7-B404-1EBDA14E7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761" y="622578"/>
            <a:ext cx="755927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Restaurant Growth Trends: A Decade of Expansion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78761" y="1850827"/>
            <a:ext cx="7559278" cy="5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Zomato has witnessed robust expansion, particularly in recent years, driven by urban centers and strategic quarterly surges.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78760" y="2536031"/>
            <a:ext cx="8235261" cy="958810"/>
          </a:xfrm>
          <a:prstGeom prst="roundRect">
            <a:avLst>
              <a:gd name="adj" fmla="val 2479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01621" y="2558891"/>
            <a:ext cx="158472" cy="913090"/>
          </a:xfrm>
          <a:prstGeom prst="rect">
            <a:avLst/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18565" y="2717363"/>
            <a:ext cx="310979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Consistent Growth: 2010-2018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8565" y="3060025"/>
            <a:ext cx="7196614" cy="25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steady increase in new restaurant registrations, laying the foundation for platform expansion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16410" y="3653314"/>
            <a:ext cx="7997611" cy="1212294"/>
          </a:xfrm>
          <a:prstGeom prst="roundRect">
            <a:avLst>
              <a:gd name="adj" fmla="val 1961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9270" y="3676174"/>
            <a:ext cx="158472" cy="1166574"/>
          </a:xfrm>
          <a:prstGeom prst="rect">
            <a:avLst/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6214" y="3834646"/>
            <a:ext cx="204989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Recent Peak Growth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6214" y="4177308"/>
            <a:ext cx="6958965" cy="5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Accelerated growth in the most recent periods, reflecting increased market   penetration and demand.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54177" y="5024080"/>
            <a:ext cx="7759843" cy="1212294"/>
          </a:xfrm>
          <a:prstGeom prst="roundRect">
            <a:avLst>
              <a:gd name="adj" fmla="val 1961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77038" y="5046940"/>
            <a:ext cx="158472" cy="1166574"/>
          </a:xfrm>
          <a:prstGeom prst="rect">
            <a:avLst/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93982" y="5205413"/>
            <a:ext cx="29173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Q3's Dominance in Openings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93982" y="5548074"/>
            <a:ext cx="6721197" cy="5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third quarter consistently records the highest number of new restaurant openings, possibly linked to seasonal demand or strategic onboarding initiatives.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91944" y="6394847"/>
            <a:ext cx="7522075" cy="1212294"/>
          </a:xfrm>
          <a:prstGeom prst="roundRect">
            <a:avLst>
              <a:gd name="adj" fmla="val 1961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014805" y="6417707"/>
            <a:ext cx="158472" cy="1166574"/>
          </a:xfrm>
          <a:prstGeom prst="rect">
            <a:avLst/>
          </a:prstGeom>
          <a:solidFill>
            <a:srgbClr val="2626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31750" y="6576179"/>
            <a:ext cx="247269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Urban Expansion Drivers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31750" y="6918841"/>
            <a:ext cx="6483429" cy="50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Major urban cities are the primary contributors to restaurant expansion, highlighting their role as key growth engines for Zomato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59CE77E-5838-7E60-D663-5D0BDF48B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96752"/>
            <a:ext cx="2857500" cy="506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8CC3-3BE3-3824-AC46-9C41D462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DDDC46-7F4C-D547-EC75-3C8CD0FD477A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Excel Dashboard - 1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C3850A-244A-6DCA-8C12-D8145E5ECB09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4C97BC-18A6-6FC1-8B56-56AFEC03CEE9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92B1ACB-C42D-0020-4DF1-DE3D6349D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C511491-D83C-4EA7-EE6E-0B7B7A44B0DD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9F9A627-26D2-ABE1-A6A4-11CC919FFBC3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36AA6A2-8588-68D9-C573-D05CDCB48EC4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7EB62EF-6BA7-FC8C-C266-B2BBCCF79952}"/>
              </a:ext>
            </a:extLst>
          </p:cNvPr>
          <p:cNvSpPr/>
          <p:nvPr/>
        </p:nvSpPr>
        <p:spPr>
          <a:xfrm>
            <a:off x="5205651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D0A8A29C-5896-CCF7-2302-00CE09EC8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0CED6AF-CDB4-8503-73E6-527EBAD8D365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581E60D-A875-D920-A1FF-8D9A5E79372F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945185F-64B6-EB14-9884-F07FFC545009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EEAA569C-744D-4780-12ED-91984A1ED7E0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D4C7D3EC-B90D-7261-9AFD-F3134929C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27F8DA25-FECA-0020-FB35-64E09C569EAE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4A23B10-77D7-EE6F-2F2E-87FF73AFE093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B070829F-1A90-7C6C-E873-580C7CE08DB6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018E91E1-38B7-032C-2396-2EC8730FB5F8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544AED11-BBA2-C0E3-E70D-023CA28A1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AD233E3C-FB29-08BA-64CA-1FC28586A926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1C3A4017-55A3-4266-57E7-D6BCCE945CA4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00A52A9D-447A-D610-2575-38B30E8C08ED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D61F56E1-FEF6-AF97-3B38-03858994B15C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B307FC23-54E0-48FC-3AB0-08DF4F263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537B2643-97FD-36D7-D249-B5C20858D681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CD057DA4-8BF8-BDDF-A61D-7EF64B92001E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A74ADC66-8024-52FA-AC89-5865D43D1D83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F026350-2E46-359A-578B-7176EA7AF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59" y="877133"/>
            <a:ext cx="14030608" cy="673732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AC41412-6464-7B6B-B8B7-F504F7813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8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91EE-C06B-9F93-E4EA-7FDBB63A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9DE73C-9A86-216F-A1E6-7A3047194004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Excel Dashboard - 2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EA9C41-339D-484E-369E-C8979D0FE7D4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601D87-B6A2-85FF-F86C-CF9B7D8A79A1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84E07B5-8C91-7150-BDDD-C68F5F752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3646074-DF0E-F3A3-9F3C-C7D663410E57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3B12838-3D65-428F-5E87-A3580783D589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9EA1ACA-72D9-38EE-0CE3-05183F0C4D80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5BE4F8C-6C74-363C-DE0F-03886CD79384}"/>
              </a:ext>
            </a:extLst>
          </p:cNvPr>
          <p:cNvSpPr/>
          <p:nvPr/>
        </p:nvSpPr>
        <p:spPr>
          <a:xfrm>
            <a:off x="5205651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AA161896-31EA-20D3-0058-2E6A3794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095EF976-09F1-F4F9-4A18-C90D2D161327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C8291CE-3D7E-7B07-1472-22758D79FE68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096BD23-B3F0-1C73-9C4E-6AE8ACB7E563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09639C66-902B-D704-0A70-09044087BA8D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ADF7BC81-12AF-9718-0481-2B88C75EC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89048ED1-E14C-97FA-4CFA-0703CFBFE858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7992097-CD78-29FD-CFA4-0D848A4E7669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D5C9B604-520C-D3D7-C850-8F3A0A49B059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2D7B5798-DF93-2AE1-30AA-28DE6139EDD6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32A4B4FC-5DEA-7CEE-6A9B-801FE85F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7A732671-C9FC-1449-6D6C-2772B2204675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129FD417-2675-A327-3811-49FBD4DEC5EC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B7F5BAE3-AA10-6BC3-2160-FDCEACCFED20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6FC39387-DE8E-EBCF-9F1E-EC066CFC11FE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4332FFB2-F687-EFFA-9837-3599D4494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77B5AB48-2C34-DC0E-F139-90EA7DAB269A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BDE7C7C0-3A43-208A-A9FF-9C0D5DABB305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1874EC04-89B2-F374-56CF-5E1074E84EA4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5BE38E3-4ABE-FB8A-9BBC-AA7CC0482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29EA4A-46BD-72D1-D4A9-569C98174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921" y="887262"/>
            <a:ext cx="14025845" cy="672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1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813A-B044-65F7-5D61-812D2CC7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FB0471-808E-D2C3-EB78-C377F5947864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Power BIDashboard-1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2F692C-367C-91BC-5336-4F85E5DB92BC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CDA5A2-80C3-4B1F-9B87-176B8EA7CD1D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38E491D-2C8B-E9D7-5467-488F93F0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A6BC24F-7254-70DB-2EF3-F0C3BD2D8DB4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2869BDD-F3E6-4309-E80E-03B6CACB3FD0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DE79D67-BA1D-B851-9EC2-C4CD9EEF3E0C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2241F09B-4062-24EA-D45E-CA595F18D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2ECAFE2-4D3E-161F-74F1-60D3524C412C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940FB5E-8710-2F35-47D9-861CAB3809A6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3EBB48B-3C9F-FBA5-F499-255EBAE84205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7ABAF83E-E6DE-43FA-0778-A3AC728B9EDA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392CFBB5-6786-FA61-D200-902801A99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6DF29978-2998-8C8F-636C-A6D840906837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19D8B07-69A7-D226-67D6-DE20F54706E0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7CC8ABCD-8F41-9792-5AB1-4611D256CB5B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0B95A5CE-F348-6DE0-0B9A-E78A4A1D98AF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2AAABCA1-4E1A-50CA-8D87-93B5B7D7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95759912-4B0C-2F18-4870-E8D4BFF85A05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FB357FED-34B2-CFB5-983E-EE1F9928FF80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7EBCFAEC-A2F9-3413-B224-39757C3E1FC6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B3EAD14B-9919-A5D3-A5E3-86D54D13AD05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5B56CBB3-A1AB-4A2B-F190-2A8F3EEA0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2B0F1F89-3388-F4CA-991F-683C507E36B6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FDBB0AF7-5CE5-1B80-35DE-2D6A7F44E239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648973A6-C105-7328-9A8A-0401F465D10F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C0405D8-054C-03E7-9550-3F5785D97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5FCDB9BE-7C30-9EA8-71B7-D32EBC33E2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A5DCE8F8-E1E6-16D4-E0E0-44D297EC01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C90A15-3A4A-1FA6-E1E6-44173C281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755" y="681037"/>
            <a:ext cx="14198139" cy="68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5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DA0DD-9171-9A35-27DA-5768E4766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62F21F-29FB-162D-BEF7-E69C2E702705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Power BIDashboard-2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AE432E-4FF7-7290-8B9E-72E131E983FA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E60C645-89DE-634A-7FE3-7565BE18A6B6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DDC3FE3-DFCA-1F35-BA79-A0F66D90A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8AF0F339-4216-668C-41AE-67AA8824A190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E8E15B6-5050-7E25-FCC7-2675151AEC57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7C6A5A-393D-CA22-8E5D-E267060EC6F1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31280027-616E-F623-E4EA-80CECE98A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CB2357C3-13BF-5A0F-F1D6-1CEC3B39CFEE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84614E5-EF71-C8F6-521D-42533D543056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B19F07D-AF07-2073-9799-8861FBD2B984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4E9C9BD2-89F2-FE1B-8A19-673C68CFF439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5574AD1A-44CB-0777-9557-6463ECB41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A0AB4B70-0250-8D64-CF1F-7E080E708194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7DBF152-736F-BCD5-E0E3-46E4E6C60110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DB37E7FD-F3C5-ACA6-5C97-575654FF2593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DAB3494A-A986-DFB0-90A5-32D05E62DF38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B695E8C2-D746-5D25-78E0-45F2A8478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163BBD68-2494-86C7-10AB-9EE6992D015F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FF48CA3C-BD65-5E09-C8A4-9096B5267C09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2C41592F-1514-37CC-1ED6-7F9FD95CF018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D511CD18-6DFE-BBD6-77DB-4A0A21266BCD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725E0BAA-228F-F995-2797-BA594784C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DC9A9563-6553-9D33-2C1F-AFB1F83EA56C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728FA502-3841-2ABB-9F76-CA9E77CC28DB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A400D5FD-E038-B4FF-5ECC-3FEAFD160CB1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44200D7-5B9F-65F7-1A18-5DBAC1546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C82B01EE-6F95-2D69-531B-4A7EDD12EB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FA46C88E-630D-5CB8-307F-7833F9244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8FA0C8-8322-7F44-3BFF-3BFE75EB6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884" y="628650"/>
            <a:ext cx="14015258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7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2FE3-B73C-1189-A773-67CF4439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5C7E89-D318-2F04-1D23-3CDBF158B91A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Power BIDashboard-3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CCE7BE-7020-E7FE-B7D1-56D38E5E497B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AF44B1-F13B-B0B9-1E40-7C7C694993A4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609442B8-7AF3-D799-EEA5-97D016B45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3332498A-547A-23FB-73E4-663E9B7961C2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28D8C70-59F3-D5B8-9307-69F084FAD44A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3419E8E-075C-2A27-AFD3-5BB7555F7499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B2D726F1-4B64-1905-F44A-6564FB1DE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81048860-5593-871B-CE83-CBF21341759C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2E84257-6D24-85A9-6CF0-3BBF0E42EA5E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666417F-3745-BE4E-3455-4AF8C18A7C06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E008CC04-7645-988A-FCF7-8097B4AAC37D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DA0F2B1D-AEB3-E372-7E47-E8505C8D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1E778587-C904-F458-1D57-D66F5F11B63E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480562D7-1AAC-DAC0-3A0D-B3C299DBAF3E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2D88C510-BBBA-7E9F-9C03-C228625ACF1C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10E475FD-475A-85FE-D1AD-52AA3E1DD497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7BCE4936-1737-D23F-77D9-8509C9C20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10F47870-BBD7-8A4F-D9E0-C9180D41E779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58B5EF3C-3956-68D3-41EB-84EC2979D8F3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2144235D-99F2-4C30-4D2C-17B8DEE8E013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1236D429-9037-C844-C49A-A04EDBC4FB4A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6E384B7A-B2F2-1C25-4ECA-A2B6DF708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8A36B228-ABD3-E327-F021-D7FC6CA0C9EC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49B88903-2137-964E-5548-B4458FCB0627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CFA55056-FD7B-E939-BAEB-6831E4FB0A69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3CEC59B-1061-9ED4-B164-76D64299D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578BFD8C-D9E1-B550-F3AA-A1F5656C5B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1F61B846-E755-6C74-E73B-83B81249BC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8A2845-2575-B2AC-5D78-11E196212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007" y="700087"/>
            <a:ext cx="14081760" cy="69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0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478E-D21A-4856-A0B4-AAC5C0D2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ABD7E9-368F-D598-8C91-9C5D3399846D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TableauDashboard-1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B48852-A7E9-BB39-D5DB-3B1A8FFD9E16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CDF539-4BB6-7621-0C92-9ADE85F36B81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84DBB15-86C3-0453-F48D-5546665CD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08FF5C89-BD3C-FD4E-CBC6-98EBD6645EC3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2C3D562-8A1C-B908-9C55-F6C75C09CB15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2E053BE-35AC-D2F0-75AC-E355CD7D37E6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8F121E4C-55E7-6108-F68A-C7E6B6A23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AFF2565C-0BF5-52F5-5844-390983CBFA85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0C4867E-DF78-CFBA-C7FB-E90AC3B28958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A0FF23D-DFC0-8C60-1D2F-785A15065BE9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596E22C3-5A1B-214A-743A-1910F56E0FF1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19F027C6-805D-B60D-4EE9-204E32697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08A796A2-C66C-9654-0F85-18619A6333AC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144734B-069C-2FDE-91AC-F2C56C21CD85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97140F1-7A6A-DE01-A797-EB01CF06FC8A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4FBE7166-A667-BE9C-F51D-1F1B62643703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4D014A92-40E0-C6C2-6665-74085F17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9D268CF0-3A49-C4DC-9C89-A3CF65F9E17D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99F05FE5-52A6-6F8E-C5DD-6884C9DE14A3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EF55648B-4883-9BF6-5FEE-9ECE76004F45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33042F5D-FD88-B69E-FC46-A59FD7060768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72A34BA4-FD74-61D8-9DA0-F851D94DC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418C8008-9C52-BFA5-5C0E-0E8DB50D2A88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A1E848F5-722B-6E80-064C-351D564BBF02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C18F0164-572B-D721-3E5C-5E1F338EB9B3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199F196-D85C-C090-524A-35B23DEDC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0DAD6D41-D06B-175B-279B-25CD275068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2C206381-A3F3-16DD-D7C0-4079B9A287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5D484A-F112-F978-C1E7-0EB0C1002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633" y="782478"/>
            <a:ext cx="14048509" cy="680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296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152C-A10E-2992-76FC-B2E15293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A5FAFA-AB3E-4C0F-5ABF-9104B432C35D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TableauDashboard-2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238C73-979C-CCA0-9CB8-BABA6AD08C39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45010B-C70F-3573-966E-3F8E097D5E44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B4CBD557-4071-E338-CBC2-B50126532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4D722B8-CEC5-C4CE-5C10-5A5D72AAB6B1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2DFE5B3-413D-3B46-4708-750A2EA7B45A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246AC48-C32D-468D-78BF-062EAB45F206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DC0084FF-F445-5C37-0F81-C2B7A09A4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51B8B7F4-C6B5-E548-99BD-1F4F2265FB55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A408E67-8397-ED82-9D87-223723D7239C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B009F97-D7D0-D06C-1186-3482656FEBBB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51B0F0D5-EB20-6CEC-11BE-474EC829B4A0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A083AC5B-290F-4E8E-AD4D-29E88706A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00CF6444-0C79-26A0-2F48-AA8426FBDCE1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40366E02-31EC-A710-347C-CABB79C9C0FB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F73B15C-7857-4EC7-D23B-10126200E7F0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AE4F7727-57DE-25CF-464E-76AEFF156EBE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5B0D1DF8-193D-FB93-8E03-56E89C85F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C0CA69D2-4189-99F9-B258-70A1C4154B29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F69B76D5-C2F2-5CB9-8E09-5F82E228596E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16F628AA-F0F1-8C95-C10D-DBE57364C4C6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6525BA60-3D71-1A20-5ED3-C381EAE5316F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A5E7CCFA-CD14-950C-20D2-9D8724100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62B952E9-2B44-7219-135C-9B74EBA98BD6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21CD8AD3-364A-33CC-92ED-5660F1167DEB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F53AEC5C-D310-1F60-9405-3DA993D9A694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254111-943E-265F-6957-A997D8A6B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6A509E09-28D5-64BA-6EAF-8461281A83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959EAC41-4539-0BEC-4ED4-CFCE8258BB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5C9028-CF96-AC69-6F9C-52B7A59CF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884" y="782478"/>
            <a:ext cx="13965381" cy="68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85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20ED-EF4E-F401-994B-DC54AB918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BFB908-531D-3B70-4E8F-261983E56829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SQL Queries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E9B2A6-3093-2419-CC7A-1045DBFA33FA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494B2A-3BA6-73DA-C13F-EC098E15715D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4B322E9-255D-4BF0-9E89-1D44719F5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0D552EE-3C89-EC01-469F-F13A913780CB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392C9B0-C2EF-8436-A923-033AD39E1A46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C13BFD3-2F37-B7A9-C6E5-CB9A7D018C2E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0AE68317-D8F1-95CB-0A4E-DDCFCEB7D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ED9532B-91C5-D144-5E1F-5D0440D9EBBE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1EE0036-7EFD-299F-AB73-CA5C4676CBAB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0190E47-AA6C-6464-F760-7A5F6760246A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4F2718E5-BFF1-A803-9CC6-995A1656716C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78B8251C-EAB8-127F-42ED-EF10AD39D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45595340-FA7E-D675-C87A-7BB325E52E06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9C37DED9-3F7C-96A8-3D66-0903967FA9B2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B78F18E6-3C61-64B2-FD73-2FCF69C77169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D8C2FBB6-88F8-74D2-0FBE-1AF6351883E7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E18BD1CD-FD51-8245-9C47-45F6B618E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55F5EAAF-DF94-E80E-8170-F927B080D024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C1F93838-1391-8D90-D897-A4052DE18F18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C95E31D3-681C-A3B5-9BCA-D8F678C9C333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D482A7DA-3C9D-45A2-66D4-BF72BE24AA0A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2515BE05-0212-87BB-81A9-AE4CE7389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32551443-705D-FBD1-2941-BB878B60D449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8EFB27C0-BD8D-2A11-9EDF-221923A6A48F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62ACE82F-2296-F74B-E98E-0BB263F9AA71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5906E71-95A8-3B08-2003-CB0BD18FF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EF65E0F8-E423-55EC-EAA5-B3D70368D7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D34D5EB5-7838-1AD6-CA2E-9824DA09E6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4090D4-2E46-67D2-CCFC-0A9C31006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91" y="998100"/>
            <a:ext cx="13910549" cy="661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80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AB0E-D685-50C0-F819-5BC45B1A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528C53-1859-E8F4-6861-F3FCEA186869}"/>
              </a:ext>
            </a:extLst>
          </p:cNvPr>
          <p:cNvSpPr/>
          <p:nvPr/>
        </p:nvSpPr>
        <p:spPr>
          <a:xfrm>
            <a:off x="793790" y="117471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SQL Queries</a:t>
            </a:r>
            <a:endParaRPr lang="en-US" sz="44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037FEF-1B9C-DA9E-A789-777F608B2FAF}"/>
              </a:ext>
            </a:extLst>
          </p:cNvPr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4EFDA0-6DE8-549D-744D-D19CE419F3CD}"/>
              </a:ext>
            </a:extLst>
          </p:cNvPr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0470977-331A-4F5B-B7E1-0A4252A44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E8E23E4-A0E2-1541-7E40-A4763F936786}"/>
              </a:ext>
            </a:extLst>
          </p:cNvPr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A6604CE-32B0-C5AE-DD1C-64CC8EE7E902}"/>
              </a:ext>
            </a:extLst>
          </p:cNvPr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0776090-DF42-B530-70A8-E631A491AEE4}"/>
              </a:ext>
            </a:extLst>
          </p:cNvPr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7F921CF1-5700-3175-5200-4759ABDC1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45882FFE-F70B-D9B1-25C5-8BEB84EE2F0E}"/>
              </a:ext>
            </a:extLst>
          </p:cNvPr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4A4097C-D70F-D703-767C-F0C04AC88ED4}"/>
              </a:ext>
            </a:extLst>
          </p:cNvPr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0A022DD-3182-4964-5096-F46F8B6B4C6B}"/>
              </a:ext>
            </a:extLst>
          </p:cNvPr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DDDB9D92-D5B1-78FB-0257-65D5872C06AD}"/>
              </a:ext>
            </a:extLst>
          </p:cNvPr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CD54E44B-8692-172B-8337-D42789B8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1E5EACBE-4E3F-B871-3916-39B950D5EABD}"/>
              </a:ext>
            </a:extLst>
          </p:cNvPr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BD5E765-14A7-4A95-67B2-B1438B785831}"/>
              </a:ext>
            </a:extLst>
          </p:cNvPr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D2570FB6-F256-23F1-3AD9-641B59C9F2BF}"/>
              </a:ext>
            </a:extLst>
          </p:cNvPr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934FDAD9-0085-EBFA-DAD3-9E78EBFC3812}"/>
              </a:ext>
            </a:extLst>
          </p:cNvPr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9BBFB44A-0015-DF23-EC2D-3DFFEA675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494B0E6D-91E7-A475-0D70-5AA9C56308F1}"/>
              </a:ext>
            </a:extLst>
          </p:cNvPr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38F1FC3B-D496-B80E-F774-95F180FB051D}"/>
              </a:ext>
            </a:extLst>
          </p:cNvPr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022D205D-0CBE-91E3-C51C-F14A3CCFB69F}"/>
              </a:ext>
            </a:extLst>
          </p:cNvPr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7566D567-5DB4-2668-9D53-4F6DCADF8A83}"/>
              </a:ext>
            </a:extLst>
          </p:cNvPr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9A4B56CB-B2E3-2981-DD1F-196730FDA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BEC53BE9-72A4-6448-3FDF-A3D1774889E3}"/>
              </a:ext>
            </a:extLst>
          </p:cNvPr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FB355941-5D6A-678C-B6A3-DC2BC407F752}"/>
              </a:ext>
            </a:extLst>
          </p:cNvPr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F02982B6-D714-BB1A-E4CC-B6A57245DA85}"/>
              </a:ext>
            </a:extLst>
          </p:cNvPr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E0A39CF-B300-BE6D-14E2-9D9B6DF86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012553FB-9B38-A543-1306-71DE4E4F37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7CD9467E-E59D-26A9-2363-1A16C9B97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2344340" cy="234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8D638D-C34D-D90D-DA6D-C5AB7D4C7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82" y="782479"/>
            <a:ext cx="14131636" cy="680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86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0359"/>
            <a:ext cx="1235273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Dashboard Insights: Illuminating Zomato's Ecosystem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900238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interactive dashboards reveal critical patterns and trends shaping the Zomato experience.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774" y="2400121"/>
            <a:ext cx="272177" cy="2721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3506" y="2394585"/>
            <a:ext cx="274034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Dominant Rating Range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383506" y="2786896"/>
            <a:ext cx="124531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majority of restaurants fall within the </a:t>
            </a:r>
            <a:r>
              <a:rPr lang="en-US" sz="1600" dirty="0">
                <a:solidFill>
                  <a:srgbClr val="97B8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3.0–3.9 rating bracket</a:t>
            </a: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indicating a broad base of moderately performing establishments</a:t>
            </a: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774" y="3445609"/>
            <a:ext cx="272177" cy="2721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3506" y="3440073"/>
            <a:ext cx="29910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India's Restaurant Density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383506" y="3832384"/>
            <a:ext cx="124531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India consistently shows the highest number of restaurants, underscoring its pivotal role in Zomato's global presence.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774" y="4491097"/>
            <a:ext cx="272177" cy="2721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3506" y="4485561"/>
            <a:ext cx="366367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Prevalence of Affordable Dining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383506" y="4877872"/>
            <a:ext cx="124531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Low-cost restaurants (priced at or below $50 for two) form the backbone of the platform's offerings.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774" y="5536585"/>
            <a:ext cx="272177" cy="2721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83506" y="5531048"/>
            <a:ext cx="348186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Online Delivery's Rating Boost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383506" y="5923359"/>
            <a:ext cx="124531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Restaurants offering online delivery services consistently achieve higher average customer ratings.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774" y="6582073"/>
            <a:ext cx="272177" cy="27217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83506" y="6576536"/>
            <a:ext cx="366522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Table Booking's Positive Impact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1383506" y="6968847"/>
            <a:ext cx="124531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option for table booking significantly correlates with improved customer satisfaction and ratings.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28761B-EC2F-BED4-9997-6975DD983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2479"/>
            <a:ext cx="1279957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Navigating the Data Landscape: Analysis Challenges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7045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Undertaking a comprehensive analysis of Zomato's diverse dataset presented several intricate challenges.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61987"/>
            <a:ext cx="4219099" cy="914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136" y="2295644"/>
            <a:ext cx="578406" cy="5784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87610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09412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Currency Conversion Complexities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009412" y="3784878"/>
            <a:ext cx="378785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Managing and standardizing financial data across various international currencies posed a significant hurdle.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205651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651" y="2561987"/>
            <a:ext cx="4219099" cy="9144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997" y="2295644"/>
            <a:ext cx="578406" cy="5784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9471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5421273" y="3066812"/>
            <a:ext cx="378785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Multi-Dimensional Data Integration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5421273" y="3784878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Integrating and synthesizing a large dataset with multiple dimensions (country, city, cuisine) required robust data modeling.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9617512" y="2584847"/>
            <a:ext cx="4219099" cy="2649141"/>
          </a:xfrm>
          <a:prstGeom prst="roundRect">
            <a:avLst>
              <a:gd name="adj" fmla="val 4142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512" y="2561987"/>
            <a:ext cx="4219099" cy="91440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7858" y="2295644"/>
            <a:ext cx="578406" cy="57840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611332" y="244018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9833134" y="3066812"/>
            <a:ext cx="3226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Inconsistent Data Formats</a:t>
            </a: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9833134" y="3483650"/>
            <a:ext cx="3787854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Addressing disparities in pricing and currency formats across different entries demanded extensive data cleaning and harmonization.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793790" y="5715953"/>
            <a:ext cx="6424970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693093"/>
            <a:ext cx="6424970" cy="9144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012" y="5426750"/>
            <a:ext cx="578406" cy="57840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90486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1009412" y="6197918"/>
            <a:ext cx="40352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Large File Management in MySQL</a:t>
            </a:r>
            <a:endParaRPr lang="en-US" dirty="0"/>
          </a:p>
        </p:txBody>
      </p:sp>
      <p:sp>
        <p:nvSpPr>
          <p:cNvPr id="27" name="Text 17"/>
          <p:cNvSpPr/>
          <p:nvPr/>
        </p:nvSpPr>
        <p:spPr>
          <a:xfrm>
            <a:off x="1009412" y="6614755"/>
            <a:ext cx="599372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Importing and processing exceptionally large datasets into MySQL necessitated optimized database strategies.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7411522" y="5715953"/>
            <a:ext cx="6425089" cy="1731169"/>
          </a:xfrm>
          <a:prstGeom prst="roundRect">
            <a:avLst>
              <a:gd name="adj" fmla="val 6338"/>
            </a:avLst>
          </a:prstGeom>
          <a:solidFill>
            <a:srgbClr val="0707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522" y="5693093"/>
            <a:ext cx="6425089" cy="9144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863" y="5426750"/>
            <a:ext cx="578406" cy="57840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508337" y="5571292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0"/>
          <p:cNvSpPr/>
          <p:nvPr/>
        </p:nvSpPr>
        <p:spPr>
          <a:xfrm>
            <a:off x="7627144" y="6197918"/>
            <a:ext cx="40786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Dashboard Performance &amp; Clarity</a:t>
            </a:r>
            <a:endParaRPr lang="en-US" dirty="0"/>
          </a:p>
        </p:txBody>
      </p:sp>
      <p:sp>
        <p:nvSpPr>
          <p:cNvPr id="33" name="Text 21"/>
          <p:cNvSpPr/>
          <p:nvPr/>
        </p:nvSpPr>
        <p:spPr>
          <a:xfrm>
            <a:off x="7627144" y="6614755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Ensuring the resulting interactive dashboards were not only performant but also clear and intuitive for users was paramount</a:t>
            </a:r>
            <a:r>
              <a:rPr lang="en-US" sz="15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15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9B37981-EF86-1884-6FA1-AC33C8AC7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2900" y="7312313"/>
            <a:ext cx="2857500" cy="8914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0682"/>
            <a:ext cx="1264634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Strategic Recommendations for Zomato's Future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736884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capitalize on market opportunities and enhance user experience, we recommend focusing on these key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strategic areas: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525898"/>
            <a:ext cx="4211479" cy="2520791"/>
          </a:xfrm>
          <a:prstGeom prst="roundRect">
            <a:avLst>
              <a:gd name="adj" fmla="val 4353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2525895"/>
            <a:ext cx="91440" cy="2520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9303" y="2802708"/>
            <a:ext cx="368903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Boost Online Delivery Adoption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89303" y="3512926"/>
            <a:ext cx="368903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Actively encourage more restaurants to integrate online delivery services to broaden customer reach and convenience.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09342" y="2509272"/>
            <a:ext cx="4211598" cy="2520791"/>
          </a:xfrm>
          <a:prstGeom prst="roundRect">
            <a:avLst>
              <a:gd name="adj" fmla="val 4353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2509269"/>
            <a:ext cx="91440" cy="2520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04855" y="2736205"/>
            <a:ext cx="368915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Enhance Table Booking Promotion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504855" y="3496300"/>
            <a:ext cx="368915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Increase awareness and usage of the table booking feature, which has been shown to significantly improve customer satisfaction.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625013" y="2492648"/>
            <a:ext cx="4211598" cy="2520791"/>
          </a:xfrm>
          <a:prstGeom prst="roundRect">
            <a:avLst>
              <a:gd name="adj" fmla="val 4353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153" y="2509270"/>
            <a:ext cx="91440" cy="2520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20526" y="2769456"/>
            <a:ext cx="359521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Targeted Cuisine Marketing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9920526" y="3327078"/>
            <a:ext cx="368915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Direct marketing efforts towards high-performing and popular cuisines to attract and retain a larger customer base.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93790" y="5167633"/>
            <a:ext cx="4211479" cy="2520791"/>
          </a:xfrm>
          <a:prstGeom prst="roundRect">
            <a:avLst>
              <a:gd name="adj" fmla="val 4353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5184258"/>
            <a:ext cx="91440" cy="2520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89303" y="5377941"/>
            <a:ext cx="368903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Quality Improvement Initiatives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089303" y="6154661"/>
            <a:ext cx="368903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Implement quality audits and support programs for low-rated restaurants to elevate their service standards and customer feedback.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209342" y="5167638"/>
            <a:ext cx="4211598" cy="2520791"/>
          </a:xfrm>
          <a:prstGeom prst="roundRect">
            <a:avLst>
              <a:gd name="adj" fmla="val 4353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5184258"/>
            <a:ext cx="91440" cy="2520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04855" y="5510946"/>
            <a:ext cx="357663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Strategic Market Expansion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5504855" y="6035318"/>
            <a:ext cx="368915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Prioritize expansion into high-growth cities and regions to capture new markets and consolidate Zomato's presence.</a:t>
            </a: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643ADF1-8749-201C-0D15-35EC14325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90FE-2341-8E8E-91F1-6AD61A37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EFABAF-ABCF-A854-BFBE-9245B5EA10F2}"/>
              </a:ext>
            </a:extLst>
          </p:cNvPr>
          <p:cNvSpPr/>
          <p:nvPr/>
        </p:nvSpPr>
        <p:spPr>
          <a:xfrm>
            <a:off x="5504855" y="3579428"/>
            <a:ext cx="3483076" cy="1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96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THANK YOU</a:t>
            </a:r>
            <a:endParaRPr lang="en-US" sz="96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23A0D5-FE8B-A4C9-9DE1-926C6D7A54E0}"/>
              </a:ext>
            </a:extLst>
          </p:cNvPr>
          <p:cNvSpPr/>
          <p:nvPr/>
        </p:nvSpPr>
        <p:spPr>
          <a:xfrm>
            <a:off x="793790" y="1736884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22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03DC505-1E2D-81B3-C37C-B975BCD54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70" y="1475809"/>
            <a:ext cx="91440" cy="2520791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47024CE-BAAA-C500-079C-A841AA4622E5}"/>
              </a:ext>
            </a:extLst>
          </p:cNvPr>
          <p:cNvSpPr/>
          <p:nvPr/>
        </p:nvSpPr>
        <p:spPr>
          <a:xfrm>
            <a:off x="1089303" y="2802708"/>
            <a:ext cx="368903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A3D4995-EAA9-61BB-3288-46286F190720}"/>
              </a:ext>
            </a:extLst>
          </p:cNvPr>
          <p:cNvSpPr/>
          <p:nvPr/>
        </p:nvSpPr>
        <p:spPr>
          <a:xfrm>
            <a:off x="1089303" y="3512926"/>
            <a:ext cx="368903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3BCC2068-7CD7-69F5-BB71-863A388D7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93666"/>
            <a:ext cx="91440" cy="2520791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75D02C30-0980-4B2C-78F5-A4D66C9E82A9}"/>
              </a:ext>
            </a:extLst>
          </p:cNvPr>
          <p:cNvSpPr/>
          <p:nvPr/>
        </p:nvSpPr>
        <p:spPr>
          <a:xfrm>
            <a:off x="5504855" y="2736205"/>
            <a:ext cx="368915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3A9529C-9949-6C91-A3BB-E3BB4798D7AE}"/>
              </a:ext>
            </a:extLst>
          </p:cNvPr>
          <p:cNvSpPr/>
          <p:nvPr/>
        </p:nvSpPr>
        <p:spPr>
          <a:xfrm>
            <a:off x="5504855" y="3496300"/>
            <a:ext cx="368915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A0B3DE87-4112-F41D-A33E-BC96C805E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2251" y="1542312"/>
            <a:ext cx="91440" cy="2520791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135F3516-B748-DB7B-5043-2A26EE19EB88}"/>
              </a:ext>
            </a:extLst>
          </p:cNvPr>
          <p:cNvSpPr/>
          <p:nvPr/>
        </p:nvSpPr>
        <p:spPr>
          <a:xfrm>
            <a:off x="9920526" y="2769456"/>
            <a:ext cx="359521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2EF867C-CF99-8ECC-11AC-43DB886B9786}"/>
              </a:ext>
            </a:extLst>
          </p:cNvPr>
          <p:cNvSpPr/>
          <p:nvPr/>
        </p:nvSpPr>
        <p:spPr>
          <a:xfrm>
            <a:off x="9920526" y="3327078"/>
            <a:ext cx="368915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D393DA8-CDDC-7817-07A4-2193DB3E2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82404" y="-743534"/>
            <a:ext cx="91440" cy="2520791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B6E4E7C0-F4F5-66CD-5BA4-2223E3034959}"/>
              </a:ext>
            </a:extLst>
          </p:cNvPr>
          <p:cNvSpPr/>
          <p:nvPr/>
        </p:nvSpPr>
        <p:spPr>
          <a:xfrm>
            <a:off x="1089303" y="5377941"/>
            <a:ext cx="368903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E79E77B-3B8A-162A-55BA-FCB3F4DCFC36}"/>
              </a:ext>
            </a:extLst>
          </p:cNvPr>
          <p:cNvSpPr/>
          <p:nvPr/>
        </p:nvSpPr>
        <p:spPr>
          <a:xfrm>
            <a:off x="1089303" y="6154661"/>
            <a:ext cx="368903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72AD4CE0-F51A-FA2F-3987-1A53743C8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731165" y="-789255"/>
            <a:ext cx="91440" cy="2520791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F9D89541-0914-CBEF-D525-208EBF61265F}"/>
              </a:ext>
            </a:extLst>
          </p:cNvPr>
          <p:cNvSpPr/>
          <p:nvPr/>
        </p:nvSpPr>
        <p:spPr>
          <a:xfrm>
            <a:off x="5504855" y="5510946"/>
            <a:ext cx="357663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A6905FAA-33F4-4422-1CB8-3592844B4A68}"/>
              </a:ext>
            </a:extLst>
          </p:cNvPr>
          <p:cNvSpPr/>
          <p:nvPr/>
        </p:nvSpPr>
        <p:spPr>
          <a:xfrm>
            <a:off x="5504855" y="6035318"/>
            <a:ext cx="368915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69CB6D3-6056-44AC-685C-D548145D1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0" y="7614457"/>
            <a:ext cx="2857500" cy="589263"/>
          </a:xfrm>
          <a:prstGeom prst="rect">
            <a:avLst/>
          </a:prstGeom>
        </p:spPr>
      </p:pic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16C49A26-1369-37D7-707A-F76A2AEBE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9760" y="5143191"/>
            <a:ext cx="91440" cy="2520791"/>
          </a:xfrm>
          <a:prstGeom prst="rect">
            <a:avLst/>
          </a:prstGeom>
        </p:spPr>
      </p:pic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8920DB94-70FA-91ED-04F8-DC2DF121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82404" y="6324242"/>
            <a:ext cx="91440" cy="2520791"/>
          </a:xfrm>
          <a:prstGeom prst="rect">
            <a:avLst/>
          </a:prstGeom>
        </p:spPr>
      </p:pic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4498FA07-DC82-4165-59FB-FF175EA6E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731165" y="6308342"/>
            <a:ext cx="91440" cy="25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4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1120</Words>
  <Application>Microsoft Office PowerPoint</Application>
  <PresentationFormat>Custom</PresentationFormat>
  <Paragraphs>199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Noto Sans TC</vt:lpstr>
      <vt:lpstr>Arial</vt:lpstr>
      <vt:lpstr>Sora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Shivam Shekhar</cp:lastModifiedBy>
  <cp:revision>26</cp:revision>
  <dcterms:created xsi:type="dcterms:W3CDTF">2025-12-18T15:25:16Z</dcterms:created>
  <dcterms:modified xsi:type="dcterms:W3CDTF">2025-12-21T15:01:35Z</dcterms:modified>
</cp:coreProperties>
</file>